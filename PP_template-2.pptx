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715000" cx="9144000"/>
  <p:notesSz cx="9144000" cy="5715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BZ4jsaqBo9kE/9RPB+wpyOqxX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47B4D7-E899-445C-A239-9F188D31A283}">
  <a:tblStyle styleId="{4947B4D7-E899-445C-A239-9F188D31A2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a8af53cd_2_13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d2a8af53cd_2_13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2a8af53cd_2_68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d2a8af53cd_2_68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a8af53cd_3_0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a8af53cd_3_0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a8af53cd_2_21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We used something we called a “stressedge” Calculated by looking at how strong</a:t>
            </a:r>
            <a:endParaRPr/>
          </a:p>
        </p:txBody>
      </p:sp>
      <p:sp>
        <p:nvSpPr>
          <p:cNvPr id="97" name="Google Shape;97;g3d2a8af53cd_2_21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a8af53cd_5_2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d2a8af53cd_5_2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2a8af53cd_2_4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d2a8af53cd_2_4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2a8af53cd_2_28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d2a8af53cd_2_28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a8af53cd_2_60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2a8af53cd_2_60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2a8af53cd_1_45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d2a8af53cd_1_45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2a8af53cd_4_0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2a8af53cd_4_0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a8af53cd_1_62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d2a8af53cd_1_62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2a8af53cd_1_36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d2a8af53cd_1_36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2a8af53cd_1_121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2a8af53cd_1_121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2a8af53cd_1_134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2a8af53cd_1_134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2a8af53cd_1_104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d2a8af53cd_1_104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80340" cy="5715000"/>
          </a:xfrm>
          <a:custGeom>
            <a:rect b="b" l="l" r="r" t="t"/>
            <a:pathLst>
              <a:path extrusionOk="0" h="5715000" w="180340">
                <a:moveTo>
                  <a:pt x="179832" y="0"/>
                </a:moveTo>
                <a:lnTo>
                  <a:pt x="0" y="0"/>
                </a:lnTo>
                <a:lnTo>
                  <a:pt x="0" y="5715000"/>
                </a:lnTo>
                <a:lnTo>
                  <a:pt x="179832" y="5715000"/>
                </a:lnTo>
                <a:lnTo>
                  <a:pt x="179832" y="0"/>
                </a:lnTo>
                <a:close/>
              </a:path>
            </a:pathLst>
          </a:custGeom>
          <a:solidFill>
            <a:srgbClr val="1F38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58140" y="5201411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358140" y="877824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8171" y="5339829"/>
            <a:ext cx="194022" cy="19255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ctr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437489" y="3918330"/>
            <a:ext cx="8269020" cy="821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18287" y="1037031"/>
            <a:ext cx="8307425" cy="2675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57200" y="1314450"/>
            <a:ext cx="397764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09160" y="1314450"/>
            <a:ext cx="397764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/>
          <p:nvPr/>
        </p:nvSpPr>
        <p:spPr>
          <a:xfrm>
            <a:off x="0" y="0"/>
            <a:ext cx="180340" cy="5715000"/>
          </a:xfrm>
          <a:custGeom>
            <a:rect b="b" l="l" r="r" t="t"/>
            <a:pathLst>
              <a:path extrusionOk="0" h="5715000" w="180340">
                <a:moveTo>
                  <a:pt x="179832" y="0"/>
                </a:moveTo>
                <a:lnTo>
                  <a:pt x="0" y="0"/>
                </a:lnTo>
                <a:lnTo>
                  <a:pt x="0" y="5715000"/>
                </a:lnTo>
                <a:lnTo>
                  <a:pt x="179832" y="5715000"/>
                </a:lnTo>
                <a:lnTo>
                  <a:pt x="179832" y="0"/>
                </a:lnTo>
                <a:close/>
              </a:path>
            </a:pathLst>
          </a:custGeom>
          <a:solidFill>
            <a:srgbClr val="1F38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3"/>
          <p:cNvSpPr/>
          <p:nvPr/>
        </p:nvSpPr>
        <p:spPr>
          <a:xfrm>
            <a:off x="358140" y="5201411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3"/>
          <p:cNvSpPr/>
          <p:nvPr/>
        </p:nvSpPr>
        <p:spPr>
          <a:xfrm>
            <a:off x="358140" y="877824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98171" y="5339829"/>
            <a:ext cx="194022" cy="19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418287" y="1037031"/>
            <a:ext cx="8307425" cy="2675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8677402" y="5406694"/>
            <a:ext cx="38735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GB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4030471" y="5350560"/>
            <a:ext cx="1084580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rPr>
              <a:t>LINC, Research &amp;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8305800" y="5263896"/>
            <a:ext cx="480059" cy="349250"/>
          </a:xfrm>
          <a:custGeom>
            <a:rect b="b" l="l" r="r" t="t"/>
            <a:pathLst>
              <a:path extrusionOk="0" h="349250" w="480059">
                <a:moveTo>
                  <a:pt x="480059" y="0"/>
                </a:moveTo>
                <a:lnTo>
                  <a:pt x="0" y="0"/>
                </a:lnTo>
                <a:lnTo>
                  <a:pt x="0" y="348995"/>
                </a:lnTo>
                <a:lnTo>
                  <a:pt x="480059" y="348995"/>
                </a:lnTo>
                <a:lnTo>
                  <a:pt x="480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671" y="269774"/>
            <a:ext cx="1438655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3014600" y="2301250"/>
            <a:ext cx="31164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Regime-scanning with Hävstång AB </a:t>
            </a:r>
            <a:endParaRPr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39675" y="4619550"/>
            <a:ext cx="8016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Edvin Gunnarsson, Edwards Holmén, Victor Mikkelsen &amp; Lucas Rodgers</a:t>
            </a:r>
            <a:endParaRPr sz="1800">
              <a:solidFill>
                <a:srgbClr val="76707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d2a8af53cd_2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2a8af53cd_2_13"/>
          <p:cNvSpPr txBox="1"/>
          <p:nvPr/>
        </p:nvSpPr>
        <p:spPr>
          <a:xfrm>
            <a:off x="418275" y="502350"/>
            <a:ext cx="35643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Exploring the Data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Establishing a market overview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2a8af53cd_2_13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65" name="Google Shape;65;g3d2a8af53cd_2_13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66" name="Google Shape;66;g3d2a8af53cd_2_13" title="Screenshot 2026-03-26 at 12.34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33" y="1969950"/>
            <a:ext cx="8744730" cy="222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418275" y="502350"/>
            <a:ext cx="35643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Exploring the Data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Checking correlation between equities, commodities, FX and </a:t>
            </a: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74" name="Google Shape;74;p2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75" name="Google Shape;75;p2" title="Screenshot 2026-03-26 at 12.31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175" y="1698350"/>
            <a:ext cx="4085251" cy="349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3d2a8af53cd_2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d2a8af53cd_2_68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82" name="Google Shape;82;g3d2a8af53cd_2_68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sp>
        <p:nvSpPr>
          <p:cNvPr id="83" name="Google Shape;83;g3d2a8af53cd_2_68"/>
          <p:cNvSpPr txBox="1"/>
          <p:nvPr/>
        </p:nvSpPr>
        <p:spPr>
          <a:xfrm>
            <a:off x="3014525" y="2454125"/>
            <a:ext cx="31164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Defining</a:t>
            </a:r>
            <a:r>
              <a:rPr lang="en-GB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The Market</a:t>
            </a:r>
            <a:endParaRPr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2a8af53cd_3_0"/>
          <p:cNvSpPr txBox="1"/>
          <p:nvPr/>
        </p:nvSpPr>
        <p:spPr>
          <a:xfrm>
            <a:off x="367850" y="425175"/>
            <a:ext cx="54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Defining stressed vs calm market conditions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2a8af53cd_3_0"/>
          <p:cNvSpPr txBox="1"/>
          <p:nvPr/>
        </p:nvSpPr>
        <p:spPr>
          <a:xfrm>
            <a:off x="367850" y="922925"/>
            <a:ext cx="5829000" cy="4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Z-score of index 1 is the signal used for identifying regimes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 - score &gt; 1.5 implies a stressed market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- score &lt; -0.5 implies a calm market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Discrepancy in Z - scores comes from stressed markets reacting more forcefully than calm 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" name="Google Shape;90;g3d2a8af53cd_3_0"/>
          <p:cNvGraphicFramePr/>
          <p:nvPr/>
        </p:nvGraphicFramePr>
        <p:xfrm>
          <a:off x="6064550" y="261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70125"/>
                <a:gridCol w="117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Condition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Signal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Z &gt; 1.5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Z &lt; -0.5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Else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1" name="Google Shape;91;g3d2a8af53cd_3_0"/>
          <p:cNvSpPr txBox="1"/>
          <p:nvPr/>
        </p:nvSpPr>
        <p:spPr>
          <a:xfrm>
            <a:off x="6264808" y="4242233"/>
            <a:ext cx="213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- rolling mean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2a8af53cd_3_0"/>
          <p:cNvSpPr txBox="1"/>
          <p:nvPr/>
        </p:nvSpPr>
        <p:spPr>
          <a:xfrm>
            <a:off x="6589219" y="4564900"/>
            <a:ext cx="131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Rolling std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2a8af53cd_3_0"/>
          <p:cNvSpPr txBox="1"/>
          <p:nvPr/>
        </p:nvSpPr>
        <p:spPr>
          <a:xfrm>
            <a:off x="5731525" y="4412050"/>
            <a:ext cx="51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=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2a8af53cd_3_0"/>
          <p:cNvSpPr/>
          <p:nvPr/>
        </p:nvSpPr>
        <p:spPr>
          <a:xfrm>
            <a:off x="6241825" y="4641300"/>
            <a:ext cx="1985700" cy="2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d2a8af53cd_2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d2a8af53cd_2_21"/>
          <p:cNvSpPr txBox="1"/>
          <p:nvPr/>
        </p:nvSpPr>
        <p:spPr>
          <a:xfrm>
            <a:off x="418275" y="946950"/>
            <a:ext cx="38157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'StressEdge': stress_bps - calm_bps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'CalmEdge': calm_bps - stress_bps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stress_bps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point the asset moves on average when Idx_0X is high 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(Z-score &gt; 1,5)?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calm_bps: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many point the asset moves on average when Idx_0X is low 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(Z-score &lt; -0,5)</a:t>
            </a: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2a8af53cd_2_21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02" name="Google Shape;102;g3d2a8af53cd_2_21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103" name="Google Shape;103;g3d2a8af53cd_2_21" title="Screenshot 2026-03-26 at 12.46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3100" y="946938"/>
            <a:ext cx="46291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2a8af53cd_2_21"/>
          <p:cNvSpPr txBox="1"/>
          <p:nvPr/>
        </p:nvSpPr>
        <p:spPr>
          <a:xfrm>
            <a:off x="418275" y="313900"/>
            <a:ext cx="605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Identifying IDX_01 as the leading indicator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d2a8af53cd_5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d2a8af53cd_5_2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11" name="Google Shape;111;g3d2a8af53cd_5_2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sp>
        <p:nvSpPr>
          <p:cNvPr id="112" name="Google Shape;112;g3d2a8af53cd_5_2"/>
          <p:cNvSpPr txBox="1"/>
          <p:nvPr/>
        </p:nvSpPr>
        <p:spPr>
          <a:xfrm>
            <a:off x="3014525" y="2454125"/>
            <a:ext cx="31164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Creating the Strategy</a:t>
            </a:r>
            <a:endParaRPr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d2a8af53cd_2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d2a8af53cd_2_4"/>
          <p:cNvSpPr txBox="1"/>
          <p:nvPr/>
        </p:nvSpPr>
        <p:spPr>
          <a:xfrm>
            <a:off x="438625" y="1050800"/>
            <a:ext cx="86289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Sharpe Ratio: </a:t>
            </a:r>
            <a:r>
              <a:rPr lang="en-GB" sz="1500">
                <a:solidFill>
                  <a:schemeClr val="dk1"/>
                </a:solidFill>
              </a:rPr>
              <a:t>Amount of profit per risk unit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Total Return: </a:t>
            </a:r>
            <a:r>
              <a:rPr lang="en-GB" sz="1500">
                <a:solidFill>
                  <a:schemeClr val="dk1"/>
                </a:solidFill>
              </a:rPr>
              <a:t>Amount of money generated in tota</a:t>
            </a:r>
            <a:r>
              <a:rPr b="1" lang="en-GB" sz="1500">
                <a:solidFill>
                  <a:schemeClr val="dk1"/>
                </a:solidFill>
              </a:rPr>
              <a:t>l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Max Drawdown: </a:t>
            </a:r>
            <a:r>
              <a:rPr lang="en-GB" sz="1500">
                <a:solidFill>
                  <a:schemeClr val="dk1"/>
                </a:solidFill>
              </a:rPr>
              <a:t>Biggest single loss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2a8af53cd_2_4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20" name="Google Shape;120;g3d2a8af53cd_2_4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121" name="Google Shape;121;g3d2a8af53cd_2_4" title="Screenshot 2026-03-26 at 13.46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75" y="2547949"/>
            <a:ext cx="9143999" cy="26697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d2a8af53cd_2_4"/>
          <p:cNvSpPr txBox="1"/>
          <p:nvPr/>
        </p:nvSpPr>
        <p:spPr>
          <a:xfrm>
            <a:off x="398725" y="269788"/>
            <a:ext cx="67593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11 triplet combinations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d2a8af53cd_2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d2a8af53cd_2_28"/>
          <p:cNvSpPr txBox="1"/>
          <p:nvPr/>
        </p:nvSpPr>
        <p:spPr>
          <a:xfrm>
            <a:off x="418275" y="538375"/>
            <a:ext cx="3564300" cy="54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Creating the “Triplets” </a:t>
            </a: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triplet is a set of three assets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Regime (index)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Defensive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Cyclical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Determined from backtesting for best “defensive” and “cyclical” (risk-on)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0.40 Regime, 1.00 Defensive</a:t>
            </a: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-1.00 Cyclical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b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Volatility Adjusted (we calculated optimal rolling window on 60/40 train test)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(5 days, target 0.012)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Gross Exposure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2a8af53cd_2_28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30" name="Google Shape;130;g3d2a8af53cd_2_28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131" name="Google Shape;131;g3d2a8af53cd_2_28" title="Screenshot 2026-03-26 at 12.43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175" y="1277925"/>
            <a:ext cx="4762500" cy="476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g3d2a8af53cd_2_28"/>
          <p:cNvGraphicFramePr/>
          <p:nvPr/>
        </p:nvGraphicFramePr>
        <p:xfrm>
          <a:off x="5011550" y="192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70125"/>
                <a:gridCol w="117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Condition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Signal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Z &gt; 1.5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Z &lt; -0.5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Else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g3d2a8af53cd_2_28"/>
          <p:cNvSpPr txBox="1"/>
          <p:nvPr/>
        </p:nvSpPr>
        <p:spPr>
          <a:xfrm>
            <a:off x="5211808" y="3554383"/>
            <a:ext cx="213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- rolling mean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d2a8af53cd_2_28"/>
          <p:cNvSpPr txBox="1"/>
          <p:nvPr/>
        </p:nvSpPr>
        <p:spPr>
          <a:xfrm>
            <a:off x="5536219" y="3877050"/>
            <a:ext cx="131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Rolling std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2a8af53cd_2_28"/>
          <p:cNvSpPr txBox="1"/>
          <p:nvPr/>
        </p:nvSpPr>
        <p:spPr>
          <a:xfrm>
            <a:off x="4678525" y="3724200"/>
            <a:ext cx="51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=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2a8af53cd_2_28"/>
          <p:cNvSpPr/>
          <p:nvPr/>
        </p:nvSpPr>
        <p:spPr>
          <a:xfrm>
            <a:off x="5188825" y="3953450"/>
            <a:ext cx="1985700" cy="2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d2a8af53cd_2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d2a8af53cd_2_60"/>
          <p:cNvSpPr txBox="1"/>
          <p:nvPr/>
        </p:nvSpPr>
        <p:spPr>
          <a:xfrm>
            <a:off x="418273" y="502350"/>
            <a:ext cx="45318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From signal to portfolio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11 triplets weighted equally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d2a8af53cd_2_60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44" name="Google Shape;144;g3d2a8af53cd_2_60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sp>
        <p:nvSpPr>
          <p:cNvPr id="145" name="Google Shape;145;g3d2a8af53cd_2_60"/>
          <p:cNvSpPr txBox="1"/>
          <p:nvPr/>
        </p:nvSpPr>
        <p:spPr>
          <a:xfrm>
            <a:off x="5740800" y="1944425"/>
            <a:ext cx="36324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regime index (-)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defensive (+) risk off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cyclical (-)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2a8af53cd_2_60"/>
          <p:cNvSpPr txBox="1"/>
          <p:nvPr/>
        </p:nvSpPr>
        <p:spPr>
          <a:xfrm>
            <a:off x="418275" y="3597925"/>
            <a:ext cx="36324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Unless the signal flips 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g3d2a8af53cd_2_60"/>
          <p:cNvGraphicFramePr/>
          <p:nvPr/>
        </p:nvGraphicFramePr>
        <p:xfrm>
          <a:off x="418275" y="16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739075"/>
                <a:gridCol w="173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Base weight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-0.40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+1.00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</a:t>
                      </a:r>
                      <a:r>
                        <a:rPr lang="en-GB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-1.00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d2a8af53cd_1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d2a8af53cd_1_45"/>
          <p:cNvSpPr txBox="1"/>
          <p:nvPr/>
        </p:nvSpPr>
        <p:spPr>
          <a:xfrm>
            <a:off x="418273" y="502350"/>
            <a:ext cx="45318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From signal to portfolio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2a8af53cd_1_45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55" name="Google Shape;155;g3d2a8af53cd_1_45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graphicFrame>
        <p:nvGraphicFramePr>
          <p:cNvPr id="156" name="Google Shape;156;g3d2a8af53cd_1_45"/>
          <p:cNvGraphicFramePr/>
          <p:nvPr/>
        </p:nvGraphicFramePr>
        <p:xfrm>
          <a:off x="418275" y="16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739075"/>
                <a:gridCol w="173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Base weight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-0.40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+1.00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-1.00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7" name="Google Shape;157;g3d2a8af53cd_1_45"/>
          <p:cNvSpPr txBox="1"/>
          <p:nvPr/>
        </p:nvSpPr>
        <p:spPr>
          <a:xfrm>
            <a:off x="4428800" y="1735975"/>
            <a:ext cx="40047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These are </a:t>
            </a:r>
            <a:r>
              <a:rPr b="1" lang="en-GB" sz="1300">
                <a:solidFill>
                  <a:schemeClr val="dk1"/>
                </a:solidFill>
              </a:rPr>
              <a:t>not yet normalized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Total absolute weight: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∣−0.40∣+∣1.00∣+∣−1.00∣=2.40∣−0.40∣+∣1.00∣+∣−1.00∣=</a:t>
            </a:r>
            <a:r>
              <a:rPr b="1" lang="en-GB" sz="1300">
                <a:solidFill>
                  <a:schemeClr val="dk1"/>
                </a:solidFill>
              </a:rPr>
              <a:t>2.40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3d2a8af53cd_1_45" title="Screenshot 2026-03-26 at 13.32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00" y="1027350"/>
            <a:ext cx="5877456" cy="4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2a8af53cd_1_45"/>
          <p:cNvSpPr txBox="1"/>
          <p:nvPr/>
        </p:nvSpPr>
        <p:spPr>
          <a:xfrm>
            <a:off x="6321550" y="107878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So every weight is divided by </a:t>
            </a:r>
            <a:r>
              <a:rPr b="1" lang="en-GB" sz="1100">
                <a:solidFill>
                  <a:schemeClr val="dk1"/>
                </a:solidFill>
              </a:rPr>
              <a:t>2.40</a:t>
            </a:r>
            <a:endParaRPr/>
          </a:p>
        </p:txBody>
      </p:sp>
      <p:sp>
        <p:nvSpPr>
          <p:cNvPr id="160" name="Google Shape;160;g3d2a8af53cd_1_45"/>
          <p:cNvSpPr txBox="1"/>
          <p:nvPr/>
        </p:nvSpPr>
        <p:spPr>
          <a:xfrm>
            <a:off x="4821575" y="3716475"/>
            <a:ext cx="3306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∣−0.17∣+∣0.42∣+∣−0.42∣=1 so gross exposure 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g3d2a8af53cd_1_45"/>
          <p:cNvGraphicFramePr/>
          <p:nvPr/>
        </p:nvGraphicFramePr>
        <p:xfrm>
          <a:off x="418275" y="3452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395450"/>
                <a:gridCol w="1226775"/>
                <a:gridCol w="1457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Calculation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Normalized weight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-0.40 / 2.40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-0.17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1.00 / 2.40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+0.42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-1.00 / 2.40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-0.42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d2a8af53cd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d2a8af53cd_4_0"/>
          <p:cNvSpPr txBox="1"/>
          <p:nvPr/>
        </p:nvSpPr>
        <p:spPr>
          <a:xfrm>
            <a:off x="418277" y="502350"/>
            <a:ext cx="23754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Scale by volatility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2a8af53cd_4_0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69" name="Google Shape;169;g3d2a8af53cd_4_0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sp>
        <p:nvSpPr>
          <p:cNvPr id="170" name="Google Shape;170;g3d2a8af53cd_4_0"/>
          <p:cNvSpPr txBox="1"/>
          <p:nvPr/>
        </p:nvSpPr>
        <p:spPr>
          <a:xfrm>
            <a:off x="446850" y="2973525"/>
            <a:ext cx="48126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 returns = weighted returns of triplet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basket_vol = rolling std (5 days)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weight=signal×base_weight×volatility_scale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g3d2a8af53cd_4_0"/>
          <p:cNvGraphicFramePr/>
          <p:nvPr/>
        </p:nvGraphicFramePr>
        <p:xfrm>
          <a:off x="418275" y="16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739075"/>
                <a:gridCol w="173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Volatility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Exposure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High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Smaller weights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Low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Larger weights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2" name="Google Shape;172;g3d2a8af53cd_4_0"/>
          <p:cNvSpPr txBox="1"/>
          <p:nvPr/>
        </p:nvSpPr>
        <p:spPr>
          <a:xfrm>
            <a:off x="4892850" y="16114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TARGET_VOL = 0.012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basket_vol = 0.020</a:t>
            </a:r>
            <a:endParaRPr/>
          </a:p>
        </p:txBody>
      </p:sp>
      <p:pic>
        <p:nvPicPr>
          <p:cNvPr id="173" name="Google Shape;173;g3d2a8af53cd_4_0" title="Screenshot 2026-03-26 at 13.38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850" y="2373447"/>
            <a:ext cx="3000000" cy="604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d2a8af53cd_4_0"/>
          <p:cNvSpPr txBox="1"/>
          <p:nvPr/>
        </p:nvSpPr>
        <p:spPr>
          <a:xfrm>
            <a:off x="4892850" y="30919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multiply all weights by 0.6</a:t>
            </a:r>
            <a:endParaRPr/>
          </a:p>
        </p:txBody>
      </p:sp>
      <p:graphicFrame>
        <p:nvGraphicFramePr>
          <p:cNvPr id="175" name="Google Shape;175;g3d2a8af53cd_4_0"/>
          <p:cNvGraphicFramePr/>
          <p:nvPr/>
        </p:nvGraphicFramePr>
        <p:xfrm>
          <a:off x="4942550" y="3399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38400"/>
                <a:gridCol w="1138400"/>
                <a:gridCol w="1622025"/>
              </a:tblGrid>
              <a:tr h="37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Calculation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Normalized weight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-0.17* 0.6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0.42 * 0.6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+0.25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-0.42 * 0.6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-0.25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d2a8af53cd_1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d2a8af53cd_1_62"/>
          <p:cNvSpPr txBox="1"/>
          <p:nvPr/>
        </p:nvSpPr>
        <p:spPr>
          <a:xfrm>
            <a:off x="418273" y="502350"/>
            <a:ext cx="45318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From signal to portfolio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2a8af53cd_1_62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83" name="Google Shape;183;g3d2a8af53cd_1_62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sp>
        <p:nvSpPr>
          <p:cNvPr id="184" name="Google Shape;184;g3d2a8af53cd_1_62"/>
          <p:cNvSpPr txBox="1"/>
          <p:nvPr/>
        </p:nvSpPr>
        <p:spPr>
          <a:xfrm>
            <a:off x="366675" y="1042725"/>
            <a:ext cx="555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weights to cur_01 exposure, assume we start with 100000$</a:t>
            </a:r>
            <a:endParaRPr/>
          </a:p>
        </p:txBody>
      </p:sp>
      <p:graphicFrame>
        <p:nvGraphicFramePr>
          <p:cNvPr id="185" name="Google Shape;185;g3d2a8af53cd_1_62"/>
          <p:cNvGraphicFramePr/>
          <p:nvPr/>
        </p:nvGraphicFramePr>
        <p:xfrm>
          <a:off x="393450" y="15433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38400"/>
                <a:gridCol w="1138400"/>
                <a:gridCol w="1622025"/>
              </a:tblGrid>
              <a:tr h="37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Weight</a:t>
                      </a:r>
                      <a:r>
                        <a:rPr b="1" lang="en-GB" sz="1100"/>
                        <a:t>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Dollar exposure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-0.10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-$10,000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+0.25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$25,000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-0.25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-$25,000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6" name="Google Shape;186;g3d2a8af53cd_1_62"/>
          <p:cNvGraphicFramePr/>
          <p:nvPr/>
        </p:nvGraphicFramePr>
        <p:xfrm>
          <a:off x="418275" y="3459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38400"/>
                <a:gridCol w="1138400"/>
              </a:tblGrid>
              <a:tr h="37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Price</a:t>
                      </a:r>
                      <a:r>
                        <a:rPr b="1" lang="en-GB" sz="1100"/>
                        <a:t>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$400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$50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$100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7" name="Google Shape;187;g3d2a8af53cd_1_62"/>
          <p:cNvSpPr txBox="1"/>
          <p:nvPr/>
        </p:nvSpPr>
        <p:spPr>
          <a:xfrm>
            <a:off x="3701150" y="3443325"/>
            <a:ext cx="36507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-10000 / 400 = -25 shares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25000 / 50 = 500 shares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-25000 / 100 = -250 shares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d2a8af53cd_1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d2a8af53cd_1_36"/>
          <p:cNvSpPr txBox="1"/>
          <p:nvPr/>
        </p:nvSpPr>
        <p:spPr>
          <a:xfrm>
            <a:off x="418274" y="502350"/>
            <a:ext cx="36978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Final result in current 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d2a8af53cd_1_36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195" name="Google Shape;195;g3d2a8af53cd_1_36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graphicFrame>
        <p:nvGraphicFramePr>
          <p:cNvPr id="196" name="Google Shape;196;g3d2a8af53cd_1_36"/>
          <p:cNvGraphicFramePr/>
          <p:nvPr/>
        </p:nvGraphicFramePr>
        <p:xfrm>
          <a:off x="418275" y="1299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38400"/>
                <a:gridCol w="1138400"/>
              </a:tblGrid>
              <a:tr h="37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Asset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Current share</a:t>
                      </a:r>
                      <a:r>
                        <a:rPr b="1" lang="en-GB" sz="1100"/>
                        <a:t>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-200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g3d2a8af53cd_1_36"/>
          <p:cNvSpPr txBox="1"/>
          <p:nvPr/>
        </p:nvSpPr>
        <p:spPr>
          <a:xfrm>
            <a:off x="442225" y="909975"/>
            <a:ext cx="2321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portfolio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2a8af53cd_1_36"/>
          <p:cNvSpPr txBox="1"/>
          <p:nvPr/>
        </p:nvSpPr>
        <p:spPr>
          <a:xfrm>
            <a:off x="3054675" y="909975"/>
            <a:ext cx="6002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shares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signal and calculated weights thereof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g3d2a8af53cd_1_36"/>
          <p:cNvGraphicFramePr/>
          <p:nvPr/>
        </p:nvGraphicFramePr>
        <p:xfrm>
          <a:off x="3079500" y="1299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{4947B4D7-E899-445C-A239-9F188D31A283}</a:tableStyleId>
              </a:tblPr>
              <a:tblGrid>
                <a:gridCol w="1138400"/>
                <a:gridCol w="1138400"/>
              </a:tblGrid>
              <a:tr h="37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Asset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Current share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Regime asset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-25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Defensive asset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Cyclical asset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-250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" name="Google Shape;200;g3d2a8af53cd_1_36"/>
          <p:cNvSpPr txBox="1"/>
          <p:nvPr/>
        </p:nvSpPr>
        <p:spPr>
          <a:xfrm>
            <a:off x="418275" y="3605900"/>
            <a:ext cx="34359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5 Index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 100 FX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50 Stock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2a8af53cd_1_36"/>
          <p:cNvSpPr txBox="1"/>
          <p:nvPr/>
        </p:nvSpPr>
        <p:spPr>
          <a:xfrm>
            <a:off x="442225" y="3189175"/>
            <a:ext cx="26535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2a8af53cd_1_36"/>
          <p:cNvSpPr txBox="1"/>
          <p:nvPr/>
        </p:nvSpPr>
        <p:spPr>
          <a:xfrm>
            <a:off x="6140200" y="1607350"/>
            <a:ext cx="19476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ensure each triplet contributes equal gross exposure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2a8af53cd_1_121"/>
          <p:cNvSpPr txBox="1"/>
          <p:nvPr/>
        </p:nvSpPr>
        <p:spPr>
          <a:xfrm>
            <a:off x="4993675" y="1135350"/>
            <a:ext cx="3834000" cy="3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(-1,0,+1)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weights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(sum |w| = 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volatility scaling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weights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currency exposure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orders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2a8af53cd_1_121"/>
          <p:cNvSpPr txBox="1"/>
          <p:nvPr/>
        </p:nvSpPr>
        <p:spPr>
          <a:xfrm>
            <a:off x="418274" y="502350"/>
            <a:ext cx="36978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Full pipeline 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2a8af53cd_1_121"/>
          <p:cNvSpPr txBox="1"/>
          <p:nvPr/>
        </p:nvSpPr>
        <p:spPr>
          <a:xfrm>
            <a:off x="418275" y="1122575"/>
            <a:ext cx="3000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returns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regime z-score (40-day rolling mean/std of index)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thresholds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z &gt; 1.5  → stress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z &lt; -0.5 → calm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(-1, 0, +1)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d2a8af53cd_1_121"/>
          <p:cNvCxnSpPr/>
          <p:nvPr/>
        </p:nvCxnSpPr>
        <p:spPr>
          <a:xfrm flipH="1" rot="10800000">
            <a:off x="2185650" y="1496650"/>
            <a:ext cx="2602500" cy="27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g3d2a8af53cd_1_121"/>
          <p:cNvSpPr/>
          <p:nvPr/>
        </p:nvSpPr>
        <p:spPr>
          <a:xfrm rot="2700000">
            <a:off x="4787972" y="1216082"/>
            <a:ext cx="161645" cy="442083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2a8af53cd_1_134"/>
          <p:cNvSpPr txBox="1"/>
          <p:nvPr/>
        </p:nvSpPr>
        <p:spPr>
          <a:xfrm>
            <a:off x="418275" y="502350"/>
            <a:ext cx="4955400" cy="12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Algorithmic FX Risk Neutralization and trading: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d2a8af53cd_1_134"/>
          <p:cNvSpPr txBox="1"/>
          <p:nvPr/>
        </p:nvSpPr>
        <p:spPr>
          <a:xfrm>
            <a:off x="284800" y="1016850"/>
            <a:ext cx="86769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 bot calculates net exposure across all foreign holdings (Crncy_02–04) per trading day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Executes offsetting trades in FX pairs to ensure P&amp;L is driven by asset performance, not currency fluctuations.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Example: </a:t>
            </a: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We buy Stock_01 for 10,000 units. The exchange rate is </a:t>
            </a:r>
            <a:r>
              <a:rPr b="1" lang="en-GB" sz="1300">
                <a:solidFill>
                  <a:schemeClr val="dk1"/>
                </a:solidFill>
              </a:rPr>
              <a:t>1.00</a:t>
            </a:r>
            <a:r>
              <a:rPr lang="en-GB" sz="1300">
                <a:solidFill>
                  <a:schemeClr val="dk1"/>
                </a:solidFill>
              </a:rPr>
              <a:t>. Ourvalue in base currency is </a:t>
            </a:r>
            <a:r>
              <a:rPr b="1" lang="en-GB" sz="1300">
                <a:solidFill>
                  <a:schemeClr val="dk1"/>
                </a:solidFill>
              </a:rPr>
              <a:t>$10,000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		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		Our bot sees that we have a </a:t>
            </a:r>
            <a:r>
              <a:rPr b="1" lang="en-GB" sz="1300">
                <a:solidFill>
                  <a:schemeClr val="dk1"/>
                </a:solidFill>
              </a:rPr>
              <a:t>$10,000 exposure</a:t>
            </a:r>
            <a:r>
              <a:rPr lang="en-GB" sz="1300">
                <a:solidFill>
                  <a:schemeClr val="dk1"/>
                </a:solidFill>
              </a:rPr>
              <a:t> in Crncy_03.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		</a:t>
            </a:r>
            <a:r>
              <a:rPr b="1" lang="en-GB" sz="1300">
                <a:solidFill>
                  <a:schemeClr val="dk1"/>
                </a:solidFill>
              </a:rPr>
              <a:t>The Hedge Trade:</a:t>
            </a:r>
            <a:r>
              <a:rPr lang="en-GB" sz="1300">
                <a:solidFill>
                  <a:schemeClr val="dk1"/>
                </a:solidFill>
              </a:rPr>
              <a:t> The bot </a:t>
            </a:r>
            <a:r>
              <a:rPr b="1" lang="en-GB" sz="1300">
                <a:solidFill>
                  <a:schemeClr val="dk1"/>
                </a:solidFill>
              </a:rPr>
              <a:t>Shorts FX_05</a:t>
            </a:r>
            <a:r>
              <a:rPr lang="en-GB" sz="1300">
                <a:solidFill>
                  <a:schemeClr val="dk1"/>
                </a:solidFill>
              </a:rPr>
              <a:t> for a notional value of </a:t>
            </a:r>
            <a:r>
              <a:rPr b="1" lang="en-GB" sz="1300">
                <a:solidFill>
                  <a:schemeClr val="dk1"/>
                </a:solidFill>
              </a:rPr>
              <a:t>$10,000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bot this for </a:t>
            </a:r>
            <a:r>
              <a:rPr b="1" lang="en-GB" sz="1300">
                <a:solidFill>
                  <a:schemeClr val="dk1"/>
                </a:solidFill>
              </a:rPr>
              <a:t>all </a:t>
            </a:r>
            <a:r>
              <a:rPr lang="en-GB" sz="1300">
                <a:solidFill>
                  <a:schemeClr val="dk1"/>
                </a:solidFill>
              </a:rPr>
              <a:t>currency exposures completely neutralizing our FX risk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d2a8af53cd_1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d2a8af53cd_1_104"/>
          <p:cNvSpPr txBox="1"/>
          <p:nvPr/>
        </p:nvSpPr>
        <p:spPr>
          <a:xfrm>
            <a:off x="418277" y="502350"/>
            <a:ext cx="23754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rPr>
              <a:t>Final result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d2a8af53cd_1_104"/>
          <p:cNvSpPr txBox="1"/>
          <p:nvPr>
            <p:ph idx="11" type="ftr"/>
          </p:nvPr>
        </p:nvSpPr>
        <p:spPr>
          <a:xfrm>
            <a:off x="4030471" y="5376087"/>
            <a:ext cx="10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LINC, Research &amp; Analysis</a:t>
            </a:r>
            <a:endParaRPr/>
          </a:p>
        </p:txBody>
      </p:sp>
      <p:sp>
        <p:nvSpPr>
          <p:cNvPr id="225" name="Google Shape;225;g3d2a8af53cd_1_104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/>
              <a:t> 1</a:t>
            </a:r>
            <a:endParaRPr/>
          </a:p>
        </p:txBody>
      </p:sp>
      <p:pic>
        <p:nvPicPr>
          <p:cNvPr id="226" name="Google Shape;226;g3d2a8af53cd_1_104" title="Screenshot 2026-03-26 at 14.28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800" y="994525"/>
            <a:ext cx="6864399" cy="390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2021-09-29T16:45:26Z</dcterms:created>
  <dc:creator>Victor Östlund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2020-10-06T00:00:00Z</vt:filetime>
  </property>
  <property fmtid="{D5CDD505-2E9C-101B-9397-08002B2CF9AE}" pid="3" name="Creator">
    <vt:lpwstr>Microsoft® PowerPoint® för Microsoft 365</vt:lpwstr>
  </property>
  <property fmtid="{D5CDD505-2E9C-101B-9397-08002B2CF9AE}" pid="4" name="LastSaved">
    <vt:filetime>2021-09-29T00:00:00Z</vt:filetime>
  </property>
</Properties>
</file>